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2803763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89" autoAdjust="0"/>
  </p:normalViewPr>
  <p:slideViewPr>
    <p:cSldViewPr snapToGrid="0" snapToObjects="1">
      <p:cViewPr>
        <p:scale>
          <a:sx n="87" d="100"/>
          <a:sy n="87" d="100"/>
        </p:scale>
        <p:origin x="-13788" y="-53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Bazkor" userId="06f630bece1bb6d0" providerId="LiveId" clId="{F3447257-A860-4618-BFC2-33BD9E67C662}"/>
    <pc:docChg chg="undo custSel modSld">
      <pc:chgData name="Michael Bazkor" userId="06f630bece1bb6d0" providerId="LiveId" clId="{F3447257-A860-4618-BFC2-33BD9E67C662}" dt="2026-10-07T13:45:42.621" v="3" actId="20577"/>
      <pc:docMkLst>
        <pc:docMk/>
      </pc:docMkLst>
      <pc:sldChg chg="modSp mod">
        <pc:chgData name="Michael Bazkor" userId="06f630bece1bb6d0" providerId="LiveId" clId="{F3447257-A860-4618-BFC2-33BD9E67C662}" dt="2026-10-07T13:45:42.621" v="3" actId="20577"/>
        <pc:sldMkLst>
          <pc:docMk/>
          <pc:sldMk cId="0" sldId="256"/>
        </pc:sldMkLst>
        <pc:spChg chg="mod">
          <ac:chgData name="Michael Bazkor" userId="06f630bece1bb6d0" providerId="LiveId" clId="{F3447257-A860-4618-BFC2-33BD9E67C662}" dt="2026-10-07T13:45:42.621" v="3" actId="20577"/>
          <ac:spMkLst>
            <pc:docMk/>
            <pc:sldMk cId="0" sldId="256"/>
            <ac:spMk id="43" creationId="{00000000-0000-0000-0000-000000000000}"/>
          </ac:spMkLst>
        </pc:spChg>
        <pc:picChg chg="mod">
          <ac:chgData name="Michael Bazkor" userId="06f630bece1bb6d0" providerId="LiveId" clId="{F3447257-A860-4618-BFC2-33BD9E67C662}" dt="2026-10-07T13:44:57.099" v="1" actId="1076"/>
          <ac:picMkLst>
            <pc:docMk/>
            <pc:sldMk cId="0" sldId="256"/>
            <ac:picMk id="4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E186D-8F44-4F00-8E8A-6A3EFF7CF55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22062-DECA-4D1F-98F7-FA7F576F56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5612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22062-DECA-4D1F-98F7-FA7F576F5608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539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804000" cy="4031999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31999"/>
            <a:ext cx="42804000" cy="12599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337585"/>
            <a:ext cx="40644000" cy="3500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7400" b="1" i="0" dirty="0">
                <a:solidFill>
                  <a:srgbClr val="FFFFFF"/>
                </a:solidFill>
                <a:latin typeface="Arial"/>
              </a:rPr>
              <a:t>Reading Between the Posts: Suicide-Risk Signals in LLM Hidden States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200"/>
              </a:spcAft>
            </a:pPr>
            <a:r>
              <a:rPr sz="3600" b="0" i="0" dirty="0">
                <a:solidFill>
                  <a:srgbClr val="CBD5E1"/>
                </a:solidFill>
                <a:latin typeface="Arial"/>
              </a:rPr>
              <a:t>Revisiting the single- and multi-task networks of Ophir et al. (2020) with four open-weight LLMs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200" b="1" i="0" dirty="0">
                <a:solidFill>
                  <a:srgbClr val="FFFFFF"/>
                </a:solidFill>
                <a:latin typeface="Arial"/>
              </a:rPr>
              <a:t>Michael </a:t>
            </a:r>
            <a:r>
              <a:rPr sz="4200" b="1" i="0" dirty="0" err="1">
                <a:solidFill>
                  <a:srgbClr val="FFFFFF"/>
                </a:solidFill>
                <a:latin typeface="Arial"/>
              </a:rPr>
              <a:t>Bazkor</a:t>
            </a:r>
            <a:r>
              <a:rPr sz="4200" b="1" i="0" dirty="0">
                <a:solidFill>
                  <a:srgbClr val="FFFFFF"/>
                </a:solidFill>
                <a:latin typeface="Arial"/>
              </a:rPr>
              <a:t>  ·  Eliyahu </a:t>
            </a:r>
            <a:r>
              <a:rPr sz="4200" b="1" i="0" dirty="0" err="1">
                <a:solidFill>
                  <a:srgbClr val="FFFFFF"/>
                </a:solidFill>
                <a:latin typeface="Arial"/>
              </a:rPr>
              <a:t>Sushansky</a:t>
            </a:r>
            <a:r>
              <a:rPr sz="4200" b="1" i="0" dirty="0">
                <a:solidFill>
                  <a:srgbClr val="FFFFFF"/>
                </a:solidFill>
                <a:latin typeface="Arial"/>
              </a:rPr>
              <a:t>  ·  Nitzan Yehezkel-Agam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dirty="0">
                <a:solidFill>
                  <a:srgbClr val="94A3B8"/>
                </a:solidFill>
                <a:latin typeface="Arial"/>
              </a:rPr>
              <a:t>Technion – Israel Institute of Technology  ·  </a:t>
            </a:r>
            <a:r>
              <a:rPr lang="en-US" sz="3000" b="0" i="0" dirty="0">
                <a:solidFill>
                  <a:srgbClr val="94A3B8"/>
                </a:solidFill>
                <a:latin typeface="Arial"/>
              </a:rPr>
              <a:t>0950280</a:t>
            </a:r>
            <a:endParaRPr sz="3000" b="0" i="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3999" y="4428000"/>
            <a:ext cx="11520000" cy="378000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4000" y="4770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4000" y="4680000"/>
            <a:ext cx="1053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TL;DR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5580000"/>
            <a:ext cx="10800000" cy="24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2500" b="0" i="0">
                <a:solidFill>
                  <a:srgbClr val="1E293B"/>
                </a:solidFill>
                <a:latin typeface="Arial"/>
              </a:rPr>
              <a:t>We swap the paper's ELMo embeddings for </a:t>
            </a:r>
            <a:r>
              <a:rPr sz="2500" b="1" i="0">
                <a:solidFill>
                  <a:srgbClr val="1E293B"/>
                </a:solidFill>
                <a:latin typeface="Arial"/>
              </a:rPr>
              <a:t>hidden states of four open LLMs</a:t>
            </a:r>
            <a:r>
              <a:rPr sz="2500" b="0" i="0">
                <a:solidFill>
                  <a:srgbClr val="1E293B"/>
                </a:solidFill>
                <a:latin typeface="Arial"/>
              </a:rPr>
              <a:t> that read all of a user's posts at once.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2500" b="0" i="0">
                <a:solidFill>
                  <a:srgbClr val="1E293B"/>
                </a:solidFill>
                <a:latin typeface="Arial"/>
              </a:rPr>
              <a:t>Same 1,003 users, same high-risk label: test AUC rises from </a:t>
            </a:r>
            <a:r>
              <a:rPr sz="2500" b="1" i="0">
                <a:solidFill>
                  <a:srgbClr val="1D4ED8"/>
                </a:solidFill>
                <a:latin typeface="Arial"/>
              </a:rPr>
              <a:t>0.629 to 0.716</a:t>
            </a:r>
            <a:r>
              <a:rPr sz="2500" b="0" i="0">
                <a:solidFill>
                  <a:srgbClr val="1E293B"/>
                </a:solidFill>
                <a:latin typeface="Arial"/>
              </a:rPr>
              <a:t> (single-task) and from </a:t>
            </a:r>
            <a:r>
              <a:rPr sz="2500" b="1" i="0">
                <a:solidFill>
                  <a:srgbClr val="0F766E"/>
                </a:solidFill>
                <a:latin typeface="Arial"/>
              </a:rPr>
              <a:t>0.697 to 0.738</a:t>
            </a:r>
            <a:r>
              <a:rPr sz="2500" b="0" i="0">
                <a:solidFill>
                  <a:srgbClr val="1E293B"/>
                </a:solidFill>
                <a:latin typeface="Arial"/>
              </a:rPr>
              <a:t> (multi-task).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2500" b="1" i="0">
                <a:solidFill>
                  <a:srgbClr val="1E293B"/>
                </a:solidFill>
                <a:latin typeface="Arial"/>
              </a:rPr>
              <a:t>Research only, not a screening tool: </a:t>
            </a:r>
            <a:r>
              <a:rPr sz="2500" b="0" i="0">
                <a:solidFill>
                  <a:srgbClr val="1E293B"/>
                </a:solidFill>
                <a:latin typeface="Arial"/>
              </a:rPr>
              <a:t>yes/no calls stay weak.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8640000"/>
            <a:ext cx="11520000" cy="39600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4000" y="8982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4000" y="8892000"/>
            <a:ext cx="1053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9792000"/>
            <a:ext cx="10800000" cy="2737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F766E"/>
              </a:buClr>
              <a:buFont typeface="Arial"/>
              <a:buChar char="•"/>
            </a:pPr>
            <a:r>
              <a:rPr sz="2200" b="0" i="0" dirty="0">
                <a:solidFill>
                  <a:srgbClr val="1E293B"/>
                </a:solidFill>
                <a:latin typeface="Arial"/>
              </a:rPr>
              <a:t>Suicide is a leading cause of death worldwide. Five decades of research on demographic, psychological, and medical risk factors predict it only slightly better than chance (AUC 0.56–0.58).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F766E"/>
              </a:buClr>
              <a:buFont typeface="Arial"/>
              <a:buChar char="•"/>
            </a:pPr>
            <a:r>
              <a:rPr sz="2200" b="0" i="0" dirty="0">
                <a:solidFill>
                  <a:srgbClr val="1E293B"/>
                </a:solidFill>
                <a:latin typeface="Arial"/>
              </a:rPr>
              <a:t>Many people at risk never see a clinician, but they do post. Everyday social-media language may carry signals that clinic-based assessments miss.</a:t>
            </a:r>
          </a:p>
          <a:p>
            <a:pPr marL="306000" indent="-306000">
              <a:lnSpc>
                <a:spcPct val="108000"/>
              </a:lnSpc>
              <a:spcAft>
                <a:spcPts val="800"/>
              </a:spcAft>
              <a:buClr>
                <a:srgbClr val="0F766E"/>
              </a:buClr>
              <a:buFont typeface="Arial"/>
              <a:buChar char="•"/>
            </a:pPr>
            <a:r>
              <a:rPr sz="2200" b="0" i="0" dirty="0">
                <a:solidFill>
                  <a:srgbClr val="1E293B"/>
                </a:solidFill>
                <a:latin typeface="Arial"/>
              </a:rPr>
              <a:t>LLMs hold rich meaning in their hidden layers. Asked directly, our LLMs' score</a:t>
            </a:r>
            <a:r>
              <a:rPr lang="en-US" sz="2200" dirty="0">
                <a:solidFill>
                  <a:srgbClr val="1E293B"/>
                </a:solidFill>
                <a:latin typeface="Arial"/>
              </a:rPr>
              <a:t>s are</a:t>
            </a:r>
            <a:r>
              <a:rPr sz="2200" b="0" i="0" dirty="0">
                <a:solidFill>
                  <a:srgbClr val="1E293B"/>
                </a:solidFill>
                <a:latin typeface="Arial"/>
              </a:rPr>
              <a:t> near chance (AUC 0.52–0.58), </a:t>
            </a:r>
            <a:r>
              <a:rPr lang="en-US" sz="2200" b="1" dirty="0">
                <a:solidFill>
                  <a:srgbClr val="1E293B"/>
                </a:solidFill>
                <a:latin typeface="Arial"/>
              </a:rPr>
              <a:t>instead </a:t>
            </a:r>
            <a:r>
              <a:rPr sz="2200" b="1" i="0" dirty="0">
                <a:solidFill>
                  <a:srgbClr val="1E293B"/>
                </a:solidFill>
                <a:latin typeface="Arial"/>
              </a:rPr>
              <a:t>we read their hidden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999" y="13032000"/>
            <a:ext cx="11520000" cy="76320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4000" y="13374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4000" y="13284000"/>
            <a:ext cx="1053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Related work: Ophir et al. (2020)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000" y="14022000"/>
            <a:ext cx="1080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64748B"/>
                </a:solidFill>
                <a:latin typeface="Arial"/>
              </a:rPr>
              <a:t>“Deep neural networks detect suicide risk from textual Facebook posts”, Scientific Reports 10, 16685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" y="14472000"/>
            <a:ext cx="10800000" cy="41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 dirty="0">
                <a:solidFill>
                  <a:srgbClr val="0F766E"/>
                </a:solidFill>
                <a:latin typeface="Arial"/>
              </a:rPr>
              <a:t>Data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1,002 adults recruited on Amazon </a:t>
            </a:r>
            <a:r>
              <a:rPr sz="2000" b="0" i="0" dirty="0" err="1">
                <a:solidFill>
                  <a:srgbClr val="1E293B"/>
                </a:solidFill>
                <a:latin typeface="Arial"/>
              </a:rPr>
              <a:t>MTurk</a:t>
            </a:r>
            <a:r>
              <a:rPr sz="2000" b="0" i="0" dirty="0">
                <a:solidFill>
                  <a:srgbClr val="1E293B"/>
                </a:solidFill>
                <a:latin typeface="Arial"/>
              </a:rPr>
              <a:t> with authenticated Facebook accounts: 83,292 posts from up to 12 months, 10 or more posts per user.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Suicide risk from the Columbia Suicide Severity Rating Scale. General risk (any ideation): 361 users, 36%. High risk (a method, intention, or plan): 132 users, 13%.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Questionnaires: depression (PHQ-9), anxiety (GAD-7), brooding, worry, loneliness, life satisfaction, Big Five personality.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sz="2400" b="1" i="0" dirty="0">
                <a:solidFill>
                  <a:srgbClr val="0F766E"/>
                </a:solidFill>
                <a:latin typeface="Arial"/>
              </a:rPr>
              <a:t>Model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Text only. </a:t>
            </a:r>
            <a:r>
              <a:rPr sz="2000" b="0" i="0" dirty="0" err="1">
                <a:solidFill>
                  <a:srgbClr val="1E293B"/>
                </a:solidFill>
                <a:latin typeface="Arial"/>
              </a:rPr>
              <a:t>ELMo</a:t>
            </a:r>
            <a:r>
              <a:rPr sz="2000" b="0" i="0" dirty="0">
                <a:solidFill>
                  <a:srgbClr val="1E293B"/>
                </a:solidFill>
                <a:latin typeface="Arial"/>
              </a:rPr>
              <a:t> word embeddings averaged per post, then per user: 1,024 numbers.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STM: fully connected layers predict risk. MTM: personality → psychosocial → psychiatric → suicide, every stage fed by a shared layer.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Five random 70/15/15 train/dev/test splits.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4000" y="19134000"/>
          <a:ext cx="10799998" cy="12419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Test AUC [95% CI]</a:t>
                      </a:r>
                    </a:p>
                  </a:txBody>
                  <a:tcPr marL="108000" marR="1080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STM</a:t>
                      </a:r>
                    </a:p>
                  </a:txBody>
                  <a:tcPr marL="108000" marR="1080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MTM</a:t>
                      </a:r>
                    </a:p>
                  </a:txBody>
                  <a:tcPr marL="108000" marR="108000" anchor="ctr"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900" b="1" dirty="0">
                          <a:solidFill>
                            <a:srgbClr val="1E293B"/>
                          </a:solidFill>
                          <a:latin typeface="Arial"/>
                        </a:rPr>
                        <a:t>General risk</a:t>
                      </a:r>
                    </a:p>
                  </a:txBody>
                  <a:tcPr marL="108000" marR="108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E293B"/>
                          </a:solidFill>
                          <a:latin typeface="Arial"/>
                        </a:rPr>
                        <a:t>0.621 [0.576, 0.657]</a:t>
                      </a:r>
                    </a:p>
                  </a:txBody>
                  <a:tcPr marL="108000" marR="108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E293B"/>
                          </a:solidFill>
                          <a:latin typeface="Arial"/>
                        </a:rPr>
                        <a:t>0.746 [0.727, 0.765]</a:t>
                      </a:r>
                    </a:p>
                  </a:txBody>
                  <a:tcPr marL="108000" marR="1080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E293B"/>
                          </a:solidFill>
                          <a:latin typeface="Arial"/>
                        </a:rPr>
                        <a:t>High risk (our target)</a:t>
                      </a:r>
                    </a:p>
                  </a:txBody>
                  <a:tcPr marL="108000" marR="108000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E293B"/>
                          </a:solidFill>
                          <a:latin typeface="Arial"/>
                        </a:rPr>
                        <a:t>0.629 [0.606, 0.660]</a:t>
                      </a:r>
                    </a:p>
                  </a:txBody>
                  <a:tcPr marL="108000" marR="108000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dirty="0">
                          <a:solidFill>
                            <a:srgbClr val="1E293B"/>
                          </a:solidFill>
                          <a:latin typeface="Arial"/>
                        </a:rPr>
                        <a:t>0.697 [0.690, 0.707]</a:t>
                      </a:r>
                    </a:p>
                  </a:txBody>
                  <a:tcPr marL="108000" marR="108000" anchor="ctr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03999" y="21096000"/>
            <a:ext cx="11520000" cy="6155999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4000" y="21438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34000" y="21348000"/>
            <a:ext cx="1053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Our cohort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000" y="22248000"/>
            <a:ext cx="1080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Font typeface="Arial"/>
              <a:buChar char="•"/>
            </a:pPr>
            <a:r>
              <a:rPr sz="2100" b="0" i="0">
                <a:solidFill>
                  <a:srgbClr val="1E293B"/>
                </a:solidFill>
                <a:latin typeface="Arial"/>
              </a:rPr>
              <a:t>Same users and filters as the paper: 1,003 labeled users, 132 high risk (13.2%). We add photo captions; the paper used text only.</a:t>
            </a:r>
          </a:p>
        </p:txBody>
      </p:sp>
      <p:pic>
        <p:nvPicPr>
          <p:cNvPr id="23" name="Picture 22" descr="corr_bars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8778" y="23076000"/>
            <a:ext cx="8130443" cy="347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000" y="26621999"/>
            <a:ext cx="1080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64748B"/>
                </a:solidFill>
                <a:latin typeface="Arial"/>
              </a:rPr>
              <a:t>Pearson r with the 0–6 suicide score, matching the paper's Table 1. Life satisfaction is left out: its column in our file repeats extraversion.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3999" y="27683999"/>
            <a:ext cx="11520000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technio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00" y="28188000"/>
            <a:ext cx="4384653" cy="1152000"/>
          </a:xfrm>
          <a:prstGeom prst="rect">
            <a:avLst/>
          </a:prstGeom>
        </p:spPr>
      </p:pic>
      <p:pic>
        <p:nvPicPr>
          <p:cNvPr id="27" name="Picture 26" descr="paper_qr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07999" y="27935999"/>
            <a:ext cx="1655999" cy="16559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51999" y="28008000"/>
            <a:ext cx="3276000" cy="1655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 dirty="0">
                <a:solidFill>
                  <a:srgbClr val="13294B"/>
                </a:solidFill>
                <a:latin typeface="Arial"/>
              </a:rPr>
              <a:t>Original paper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 dirty="0">
                <a:solidFill>
                  <a:srgbClr val="1E293B"/>
                </a:solidFill>
                <a:latin typeface="Arial"/>
              </a:rPr>
              <a:t>Ophir et al., Sci. Rep. 2020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 dirty="0">
                <a:solidFill>
                  <a:srgbClr val="64748B"/>
                </a:solidFill>
                <a:latin typeface="Arial"/>
              </a:rPr>
              <a:t>doi:10.1038/s41598-020-73917-0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0F766E"/>
                </a:solidFill>
                <a:latin typeface="Arial"/>
              </a:rPr>
              <a:t>scan 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456000" y="4428000"/>
            <a:ext cx="14976000" cy="25415999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2816000" y="4770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086000" y="4680000"/>
            <a:ext cx="13986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Method: from a user's posts to a risk score</a:t>
            </a:r>
          </a:p>
        </p:txBody>
      </p:sp>
      <p:pic>
        <p:nvPicPr>
          <p:cNvPr id="32" name="Picture 31" descr="metho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16000" y="5616000"/>
            <a:ext cx="14256000" cy="2390256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7864000" y="4428000"/>
            <a:ext cx="14435999" cy="20159999"/>
          </a:xfrm>
          <a:prstGeom prst="roundRect">
            <a:avLst>
              <a:gd name="adj" fmla="val 1496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8224000" y="4770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494000" y="4680000"/>
            <a:ext cx="13445999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Results: high suicide risk on held-out users</a:t>
            </a:r>
          </a:p>
        </p:txBody>
      </p:sp>
      <p:pic>
        <p:nvPicPr>
          <p:cNvPr id="36" name="Picture 35" descr="headlin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24000" y="5580000"/>
            <a:ext cx="7401170" cy="5708965"/>
          </a:xfrm>
          <a:prstGeom prst="rect">
            <a:avLst/>
          </a:prstGeom>
        </p:spPr>
      </p:pic>
      <p:pic>
        <p:nvPicPr>
          <p:cNvPr id="37" name="Picture 36" descr="roc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913170" y="5580000"/>
            <a:ext cx="6026828" cy="590399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8224000" y="11537999"/>
            <a:ext cx="7401170" cy="75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64748B"/>
                </a:solidFill>
                <a:latin typeface="Arial"/>
              </a:rPr>
              <a:t>Whiskers: 95% CI (paper as reported; ours across the 5 folds). White numbers: gain over the paper's model of the same type. d = Cohen's d. Dashed line: the paper's best.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13170" y="11537999"/>
            <a:ext cx="6026829" cy="75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64748B"/>
                </a:solidFill>
                <a:latin typeface="Arial"/>
              </a:rPr>
              <a:t>ROC on the 5 test folds: thin lines are folds, thick lines and bands the mean ± SD.</a:t>
            </a:r>
          </a:p>
        </p:txBody>
      </p:sp>
      <p:pic>
        <p:nvPicPr>
          <p:cNvPr id="40" name="Picture 39" descr="errors_by_scor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24000" y="12401999"/>
            <a:ext cx="6713999" cy="4518461"/>
          </a:xfrm>
          <a:prstGeom prst="rect">
            <a:avLst/>
          </a:prstGeom>
        </p:spPr>
      </p:pic>
      <p:pic>
        <p:nvPicPr>
          <p:cNvPr id="41" name="Picture 40" descr="aux_scores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26000" y="12401999"/>
            <a:ext cx="6713999" cy="457187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8224000" y="17027878"/>
            <a:ext cx="6713999" cy="75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64748B"/>
                </a:solidFill>
                <a:latin typeface="Arial"/>
              </a:rPr>
              <a:t>Calls at each fold's development-F1 threshold. Accuracy is 77%, below the 87% of always answering “not high risk”.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26000" y="17027878"/>
            <a:ext cx="6713999" cy="261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 dirty="0">
                <a:solidFill>
                  <a:srgbClr val="64748B"/>
                </a:solidFill>
                <a:latin typeface="Arial"/>
              </a:rPr>
              <a:t>The MTM's middle stages track the questionnaires (mean </a:t>
            </a:r>
            <a:r>
              <a:rPr sz="1700" b="0" i="1">
                <a:solidFill>
                  <a:srgbClr val="64748B"/>
                </a:solidFill>
                <a:latin typeface="Arial"/>
              </a:rPr>
              <a:t>r 0.19).</a:t>
            </a:r>
            <a:endParaRPr sz="1700" b="0" i="1" dirty="0">
              <a:solidFill>
                <a:srgbClr val="64748B"/>
              </a:solidFill>
              <a:latin typeface="Arial"/>
            </a:endParaRPr>
          </a:p>
        </p:txBody>
      </p:sp>
      <p:pic>
        <p:nvPicPr>
          <p:cNvPr id="44" name="Picture 43" descr="examples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952620" y="17891878"/>
            <a:ext cx="12258758" cy="601212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8224000" y="23958000"/>
            <a:ext cx="1371599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 dirty="0">
                <a:solidFill>
                  <a:srgbClr val="64748B"/>
                </a:solidFill>
                <a:latin typeface="Arial"/>
              </a:rPr>
              <a:t>One held-out user per cell. Quotes are verbatim excerpts from their posts; names removed.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863765" y="24929999"/>
            <a:ext cx="14435999" cy="48240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8224000" y="25361999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494000" y="25271999"/>
            <a:ext cx="13445999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Limitations &amp; future 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24000" y="26171999"/>
            <a:ext cx="6641999" cy="2573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E11D48"/>
                </a:solidFill>
                <a:latin typeface="Arial"/>
              </a:rPr>
              <a:t>Limitations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E11D48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Not a screening tool: 77% accuracy vs 87% for calling everyone low risk.</a:t>
            </a:r>
            <a:r>
              <a:rPr lang="en-US" sz="2000" b="0" i="0" dirty="0">
                <a:solidFill>
                  <a:srgbClr val="1E293B"/>
                </a:solidFill>
                <a:latin typeface="Arial"/>
              </a:rPr>
              <a:t> (Class imbalance problem)</a:t>
            </a:r>
            <a:endParaRPr sz="2000" b="0" i="0" dirty="0">
              <a:solidFill>
                <a:srgbClr val="1E293B"/>
              </a:solidFill>
              <a:latin typeface="Arial"/>
            </a:endParaRP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E11D48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Even the true questionnaire scores only reach 0.80 AUC, so the middle stages (mean r 0.19) cannot lift the suicide head much further.</a:t>
            </a:r>
            <a:endParaRPr lang="en-US" sz="2000" b="0" i="0" dirty="0">
              <a:solidFill>
                <a:srgbClr val="1E293B"/>
              </a:solidFill>
              <a:latin typeface="Arial"/>
            </a:endParaRP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E11D48"/>
              </a:buClr>
              <a:buFont typeface="Arial"/>
              <a:buChar char="•"/>
            </a:pPr>
            <a:r>
              <a:rPr lang="en-US" sz="2000" dirty="0">
                <a:solidFill>
                  <a:srgbClr val="1E293B"/>
                </a:solidFill>
                <a:latin typeface="Arial"/>
              </a:rPr>
              <a:t>Lack of dates for the user’s posts makes the event order ambiguous for the LLM. </a:t>
            </a:r>
            <a:endParaRPr sz="2000" b="0" i="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298000" y="26171999"/>
            <a:ext cx="6641999" cy="2573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F766E"/>
                </a:solidFill>
                <a:latin typeface="Arial"/>
              </a:rPr>
              <a:t>Future work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Fine-tune an LLM end-to-end (e.g. </a:t>
            </a:r>
            <a:r>
              <a:rPr sz="2000" b="0" i="0" dirty="0" err="1">
                <a:solidFill>
                  <a:srgbClr val="1E293B"/>
                </a:solidFill>
                <a:latin typeface="Arial"/>
              </a:rPr>
              <a:t>LoRA</a:t>
            </a:r>
            <a:r>
              <a:rPr sz="2000" b="0" i="0" dirty="0">
                <a:solidFill>
                  <a:srgbClr val="1E293B"/>
                </a:solidFill>
                <a:latin typeface="Arial"/>
              </a:rPr>
              <a:t>) instead of reading frozen states.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Attention over posts to show which posts drive a user's score.</a:t>
            </a:r>
            <a:r>
              <a:rPr lang="en-US" sz="2000" b="0" i="0" dirty="0">
                <a:solidFill>
                  <a:srgbClr val="1E293B"/>
                </a:solidFill>
                <a:latin typeface="Arial"/>
              </a:rPr>
              <a:t> (Better explainability)</a:t>
            </a:r>
            <a:endParaRPr lang="en-US" sz="2000" dirty="0">
              <a:solidFill>
                <a:srgbClr val="1E293B"/>
              </a:solidFill>
              <a:latin typeface="Arial"/>
            </a:endParaRP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lang="en-US" sz="2000" dirty="0">
                <a:solidFill>
                  <a:srgbClr val="1E293B"/>
                </a:solidFill>
                <a:latin typeface="Arial"/>
              </a:rPr>
              <a:t>Collect more data from the existing users and increase share of high-risk users.</a:t>
            </a:r>
            <a:endParaRPr sz="2000" b="0" i="0" dirty="0">
              <a:solidFill>
                <a:srgbClr val="1E293B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740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מיכאל בזקור</cp:lastModifiedBy>
  <cp:revision>3</cp:revision>
  <dcterms:created xsi:type="dcterms:W3CDTF">2013-01-27T09:14:16Z</dcterms:created>
  <dcterms:modified xsi:type="dcterms:W3CDTF">2026-10-07T13:45:42Z</dcterms:modified>
  <cp:category/>
</cp:coreProperties>
</file>